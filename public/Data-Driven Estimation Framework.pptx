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DM Sans SemiBold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ExtraBold" panose="020B0604020202020204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8A662F-DC35-433A-BC77-15B65D3CC5A2}">
  <a:tblStyle styleId="{E48A662F-DC35-433A-BC77-15B65D3CC5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30541" y="2421284"/>
            <a:ext cx="7330916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Data-Driven Estimation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14562" y="4705317"/>
            <a:ext cx="77628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 Comprehensive CASE Tool Framework for Modern Software Engineering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395475" y="5910342"/>
            <a:ext cx="528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Dua </a:t>
            </a:r>
            <a:r>
              <a:rPr lang="en-US" sz="2200" dirty="0" err="1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jamali</a:t>
            </a:r>
            <a:r>
              <a:rPr lang="en-US" sz="2200" dirty="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(65340) &amp; Sohaib Anjum (65309) </a:t>
            </a:r>
            <a:endParaRPr sz="2200" dirty="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4475"/>
            <a:ext cx="52768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4475"/>
            <a:ext cx="52768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19175" y="2576512"/>
            <a:ext cx="44005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EF4444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40%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19175" y="3529012"/>
            <a:ext cx="46205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21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Problem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19175" y="3995737"/>
            <a:ext cx="44005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Manual software cost estimation often leads to severe budget overruns due to subjective bias and a distinct lack of empirical data anchors guiding the development lifecycle.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538537"/>
            <a:ext cx="46205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21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4005262"/>
            <a:ext cx="44005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Our Laravel + React framework actively automates component sizing and applies strict historical anchors to provide highly defensible, mathematically sound budget forecasts.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5669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0159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699424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14475"/>
            <a:ext cx="52768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1719262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Production Grade Stack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22812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system utilizes a modern decoupled architecture to ensure high-fidelity performance and secure data handling.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14400" y="31765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Frontend: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React 18 for interactive, real-time dashboarding.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14400" y="39766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Backend: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Laravel 11 handling COCOMO mathematical logic.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14400" y="47767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Crawler: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Python nodes for automated sizing and DOM scraping.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14400" y="55768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Database: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PostgreSQL for secure empirical project logs.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289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290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8291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62927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Technical Architecture Stack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24275" y="66675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9"/>
          <a:srcRect/>
          <a:stretch/>
        </p:blipFill>
        <p:spPr>
          <a:xfrm>
            <a:off x="6334125" y="1514475"/>
            <a:ext cx="5232676" cy="457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09825"/>
            <a:ext cx="11029950" cy="421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81025" y="1514475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Our proxy module scans competitor DOM structures to map interface complexity, identifying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Input Forms &amp; Fields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Action Endpoints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and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UI Components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 How we adapt to scraping trends:</a:t>
            </a:r>
            <a:endParaRPr/>
          </a:p>
        </p:txBody>
      </p:sp>
      <p:graphicFrame>
        <p:nvGraphicFramePr>
          <p:cNvPr id="129" name="Google Shape;129;p16"/>
          <p:cNvGraphicFramePr/>
          <p:nvPr/>
        </p:nvGraphicFramePr>
        <p:xfrm>
          <a:off x="590550" y="2419350"/>
          <a:ext cx="11010900" cy="4194000"/>
        </p:xfrm>
        <a:graphic>
          <a:graphicData uri="http://schemas.openxmlformats.org/drawingml/2006/table">
            <a:tbl>
              <a:tblPr firstRow="1" bandRow="1">
                <a:noFill/>
                <a:tableStyleId>{E48A662F-DC35-433A-BC77-15B65D3CC5A2}</a:tableStyleId>
              </a:tblPr>
              <a:tblGrid>
                <a:gridCol w="27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Scraping Trend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Impact on Data Extraction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Framework Adaptation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AI-Powered Defenses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AI-driven bot detection, session tracking, and rate limits make traditional scraping harder.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human-like browsing patterns, rotating proxies, and headless browsers.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API-Only Marketplaces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Platforms are blocking traditional DOM scraping and enforcing strict API-based access.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Combine API data payloads with supplementary public UI structure scraping.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Dynamic Pricing/Inventory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Values fluctuate rapidly on modern sites, requiring immediate, real-time syncs.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high-frequency micro-scraping and automated alerts for instant adjustments.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0" name="Google Shape;130;p16"/>
          <p:cNvSpPr/>
          <p:nvPr/>
        </p:nvSpPr>
        <p:spPr>
          <a:xfrm>
            <a:off x="590550" y="3168848"/>
            <a:ext cx="270480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295352" y="3168848"/>
            <a:ext cx="416034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455693" y="3168848"/>
            <a:ext cx="41457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90550" y="4315420"/>
            <a:ext cx="270480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295352" y="4315420"/>
            <a:ext cx="416034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455693" y="4315420"/>
            <a:ext cx="41457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90550" y="5461992"/>
            <a:ext cx="270480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295352" y="5461992"/>
            <a:ext cx="416034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455693" y="5461992"/>
            <a:ext cx="41457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Automated Proxy Scraper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496626" y="699424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4475"/>
            <a:ext cx="52768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4475"/>
            <a:ext cx="52768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4379416"/>
            <a:ext cx="4400550" cy="956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019175" y="2614612"/>
            <a:ext cx="46205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Algorithmic </a:t>
            </a:r>
            <a:r>
              <a:rPr lang="en-US" sz="21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Foundations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19175" y="3081337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00E5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94% Accuracy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19175" y="3652837"/>
            <a:ext cx="44005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tool implements COCOMO II scaling factors to adjust for personnel capability, platform complexity, and schedule constraints. Removing human intuition provides highly defensible KLOC and Effort-Month metrics.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772275" y="2455366"/>
            <a:ext cx="46205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PERT Statistical </a:t>
            </a:r>
            <a:r>
              <a:rPr lang="en-US" sz="2100" b="1" i="0" u="none" strike="noStrike" cap="non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Risk Modeling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772275" y="2922091"/>
            <a:ext cx="44005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Users input range values (Optimistic and Pessimistic) to account for technical uncertainty. The system calculates the weighted average baseline effort.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05923" y="4737050"/>
            <a:ext cx="1733103" cy="3036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COCOMO II &amp; PERT Calculation Engine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81025" y="11334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81025" y="1003019"/>
            <a:ext cx="549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Delphi Consensus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581025" y="1095134"/>
            <a:ext cx="64200" cy="3810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20193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Structured Collaboration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81025" y="2533650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To eliminate developer-specific bias, our tool enforces a strict dual-verification consensus protocol during the estimation process.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14400" y="3733800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Independent Estimation: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Dua &amp; Partner estimate modules entirely separately.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14400" y="4533900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Discrepancy Trigger: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system creates automatic flags for values demonstrating &gt; 15% variance.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14400" y="5334000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Lock-in Validation: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Final estimation values are committed only upon mutual alignment and debate.</a:t>
            </a:r>
            <a:endParaRPr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8618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862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3863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8"/>
          <a:srcRect/>
          <a:stretch/>
        </p:blipFill>
        <p:spPr>
          <a:xfrm>
            <a:off x="5871750" y="9525"/>
            <a:ext cx="6320250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86247"/>
            <a:ext cx="11029950" cy="40189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19"/>
          <p:cNvGraphicFramePr/>
          <p:nvPr/>
        </p:nvGraphicFramePr>
        <p:xfrm>
          <a:off x="590550" y="189577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{E48A662F-DC35-433A-BC77-15B65D3CC5A2}</a:tableStyleId>
              </a:tblPr>
              <a:tblGrid>
                <a:gridCol w="275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9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Domain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Member Lead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E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Tasks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Frontend GUI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Dua (65340)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React state logic, Tailwind layouts, Metrics visuals.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Laravel API architecture, PostgreSQL data modeling.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Math Engine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Dua &amp; Team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COCOMO II factors, PERT scripts, Scrapy workers.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9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Quality QA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Historical anchor validation and Delphi consensus rounds.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1" name="Google Shape;181;p19"/>
          <p:cNvSpPr/>
          <p:nvPr/>
        </p:nvSpPr>
        <p:spPr>
          <a:xfrm>
            <a:off x="590550" y="2645271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343275" y="2645271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096000" y="2645271"/>
            <a:ext cx="55054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90550" y="3456682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343275" y="3456682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096000" y="3456682"/>
            <a:ext cx="55054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90550" y="4268092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343275" y="4268092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096000" y="4268092"/>
            <a:ext cx="55054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90550" y="5079503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343275" y="5079503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6096000" y="5079503"/>
            <a:ext cx="55054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Functional Matrix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376050" y="716304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81025" y="1514475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Technical throughput benchmarks for the Laravel-React pipeline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61875" y="962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Performance Comparison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81025" y="1024957"/>
            <a:ext cx="76200" cy="5541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530804" y="581025"/>
            <a:ext cx="313039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Vision 2026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809750" y="1647825"/>
            <a:ext cx="85725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E5FF"/>
                </a:solidFill>
                <a:latin typeface="DM Sans"/>
                <a:ea typeface="DM Sans"/>
                <a:cs typeface="DM Sans"/>
                <a:sym typeface="DM Sans"/>
              </a:rPr>
              <a:t>Integrating Machine Learning for predictive pattern recognition and dynamic effort scaling across globally distributed development clusters.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143500" y="3495675"/>
            <a:ext cx="1905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870721" y="4086225"/>
            <a:ext cx="4450556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400550" y="5314950"/>
            <a:ext cx="3390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Thank you for your time.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1985100" y="6267900"/>
            <a:ext cx="822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855F7"/>
                </a:solidFill>
                <a:latin typeface="Urbanist"/>
                <a:ea typeface="Urbanist"/>
                <a:cs typeface="Urbanist"/>
                <a:sym typeface="Urbanist"/>
              </a:rPr>
              <a:t>DUA (65340)&amp; Sohaib Anjum(65309)  | SOFTWARE COST ESTIMATION TOOL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Widescreen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Urbanist ExtraBold</vt:lpstr>
      <vt:lpstr>Calibri</vt:lpstr>
      <vt:lpstr>Arial</vt:lpstr>
      <vt:lpstr>DM Sans SemiBold</vt:lpstr>
      <vt:lpstr>Urbanist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Sohaib</cp:lastModifiedBy>
  <cp:revision>2</cp:revision>
  <dcterms:modified xsi:type="dcterms:W3CDTF">2026-05-16T04:21:31Z</dcterms:modified>
</cp:coreProperties>
</file>